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1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F883-082D-7D79-F028-CCCFEA6D1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4B18F-F472-6758-DDFB-6344D0541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75B0F-123F-D441-6767-C3646423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1A7D0-E791-E501-10D6-8C899BC0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D617-68CD-6116-B6A5-DD283517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4904-592D-46A1-B925-749A3C2D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C6C8-2865-F744-16B5-0D7814D0F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997DB-76D9-B360-69B2-A086EDB0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A6A6C-BF5E-3EDB-7FFC-77D21538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BB60-F4B0-3672-7BF8-14955316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29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3A56-2EA9-0189-5EF5-6895F16D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C4024-674A-5993-E2EF-0F7F416FB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F289-8BA7-0082-5212-4A26820E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79A30-7994-BD38-9834-960A24AA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8821D-944D-E3AD-9E95-60CE05B9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6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0F8B-5D46-3543-57FD-3CA45A32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24E2D-0E5F-F99E-2EC4-01327D026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6FC48-6430-5DDB-0527-B1418E140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B664C-236B-01F6-9A42-7AFEE31F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60515-8C43-4E2D-3B90-8F207DAE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04951-C06D-46A2-4211-D05EFC1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3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F08D-8EEC-8816-4F4D-25F21A0B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0915-2BB0-AF4C-FEF7-ED71DE7C3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D79EB-DFD5-2A00-BB4F-DAB7BC39A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8556D-5490-5D59-03C9-8B1695EE2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5507F3-858B-8377-CAD7-EB995C063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5C0E1-9C5A-A463-2414-DF5F413A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3BF7E-2AA0-5222-6097-156159B7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5E79C-DAE7-91B8-B594-F38C6FC0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025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BB2C-5DB2-9920-1158-232470B35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4DA99-0399-F2BF-5636-89984BDE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9FD0E-6C9B-7CD6-C463-AEC4B984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46200-F907-FCFB-D7D4-BB26F95A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7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6C203-9889-7D6C-7815-A0E2F6AE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6A271-ECF7-D00F-3497-E481FBD1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69AA5-62B6-1296-8D6A-B13A7836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967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349C-7A68-5927-5627-DD3628F7A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9394-CC43-E3C9-BB51-7C080F253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A1A23-F16B-EE70-245A-6C556DC6B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74AF9-DF69-4666-1394-DD10CB01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F4DC8-6B28-6B9D-734E-3C82FD57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6FA05-B64A-ACB9-AB67-418EF796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9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A38C-6540-F86F-B6F8-273874862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7D84F-7FAE-C69D-7A95-704213EA8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AC585-8242-FA85-95AD-855A9317F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8F397-6970-15DF-33FE-2F634E55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07C54-6A37-393D-A52B-5C435A74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F1820-CF04-61C1-824B-64FC96D3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55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01F1-A2E4-6D14-5CC6-E5C9692E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E972B-ADD8-0258-5015-5A398D1E7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236B0-B5C5-21A8-62E5-C78B1DCF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01EE-C145-22A9-DFE2-2784C169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7AF18-2EB7-31A4-66BB-C0D9BEC2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09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26E3B-E26D-5DE4-9108-6174A13C8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19B32-E723-BD25-ABDF-6FD2BA08C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DA71C-D3F7-D0B4-023E-328B8945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4DDAA-CFBE-B36F-41F3-06DF34E6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31BF7-BD61-DA37-2334-64183152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25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E04E8-6AE9-D40F-39D3-6165AD18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2BB37-2756-4529-ADB9-C61C559A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4FEBC-1C77-8273-A817-AAA542433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680C4-4538-47DD-92F1-47E2A1EDD92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950A-10A1-5F8C-2920-E9D6E2105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A8BBD-ABC2-E1A5-A1B2-2167AFA43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A3D24-11B6-4AC9-82F2-E57C73DA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08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5F2C20-83A1-614D-48C0-C7226B228682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4DB8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B9CE2E-9016-5DFD-AB21-7A3D7809DEEA}"/>
              </a:ext>
            </a:extLst>
          </p:cNvPr>
          <p:cNvSpPr txBox="1"/>
          <p:nvPr/>
        </p:nvSpPr>
        <p:spPr>
          <a:xfrm>
            <a:off x="381000" y="228600"/>
            <a:ext cx="431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>
                <a:solidFill>
                  <a:srgbClr val="4DB807"/>
                </a:solidFill>
                <a:latin typeface="Aptos" panose="020B0004020202020204" pitchFamily="34" charset="0"/>
              </a:rPr>
              <a:t>GridSense AI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25C0BF92-77C6-5407-DE68-E244501BCEAC}"/>
              </a:ext>
            </a:extLst>
          </p:cNvPr>
          <p:cNvSpPr txBox="1"/>
          <p:nvPr/>
        </p:nvSpPr>
        <p:spPr>
          <a:xfrm>
            <a:off x="381000" y="736600"/>
            <a:ext cx="5334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a-DK" sz="1400">
                <a:solidFill>
                  <a:srgbClr val="757575"/>
                </a:solidFill>
                <a:latin typeface="Aptos" panose="020B0004020202020204" pitchFamily="34" charset="0"/>
              </a:rPr>
              <a:t>Simple smart meter intelligence for BESCOM</a:t>
            </a:r>
            <a:endParaRPr lang="en-IN" sz="1400">
              <a:solidFill>
                <a:srgbClr val="757575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63163-CE4E-C277-181A-61F6695E7F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97000"/>
            <a:ext cx="7112000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8F8760-29AF-E081-8168-84ACAE06FE03}"/>
              </a:ext>
            </a:extLst>
          </p:cNvPr>
          <p:cNvSpPr/>
          <p:nvPr/>
        </p:nvSpPr>
        <p:spPr>
          <a:xfrm>
            <a:off x="7874000" y="1397000"/>
            <a:ext cx="3556000" cy="4000500"/>
          </a:xfrm>
          <a:prstGeom prst="rect">
            <a:avLst/>
          </a:prstGeom>
          <a:solidFill>
            <a:srgbClr val="EFF1F8"/>
          </a:solidFill>
          <a:ln w="15875">
            <a:solidFill>
              <a:srgbClr val="E8E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A56F0F0-D81F-85E5-4A7F-61C8FF158699}"/>
              </a:ext>
            </a:extLst>
          </p:cNvPr>
          <p:cNvSpPr txBox="1"/>
          <p:nvPr/>
        </p:nvSpPr>
        <p:spPr>
          <a:xfrm>
            <a:off x="8128000" y="1714500"/>
            <a:ext cx="304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222222"/>
                </a:solidFill>
                <a:latin typeface="Aptos" panose="020B0004020202020204" pitchFamily="34" charset="0"/>
              </a:rPr>
              <a:t>Hello. This is our project GridSense A I. It helps BESCOM understand smart meter data in a simple way.</a:t>
            </a:r>
            <a:endParaRPr lang="en-IN" sz="18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A8F73-FCA8-D971-5EAF-7F6DBFB6FF02}"/>
              </a:ext>
            </a:extLst>
          </p:cNvPr>
          <p:cNvSpPr/>
          <p:nvPr/>
        </p:nvSpPr>
        <p:spPr>
          <a:xfrm>
            <a:off x="381000" y="5715000"/>
            <a:ext cx="11049000" cy="508000"/>
          </a:xfrm>
          <a:prstGeom prst="rect">
            <a:avLst/>
          </a:prstGeom>
          <a:solidFill>
            <a:srgbClr val="FFF5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222222"/>
                </a:solidFill>
                <a:latin typeface="Aptos" panose="020B0004020202020204" pitchFamily="34" charset="0"/>
              </a:rPr>
              <a:t>GridSense AI demo for hackathon presentation</a:t>
            </a:r>
          </a:p>
        </p:txBody>
      </p:sp>
      <p:pic>
        <p:nvPicPr>
          <p:cNvPr id="10" name="slide-01">
            <a:hlinkClick r:id="" action="ppaction://media"/>
            <a:extLst>
              <a:ext uri="{FF2B5EF4-FFF2-40B4-BE49-F238E27FC236}">
                <a16:creationId xmlns:a16="http://schemas.microsoft.com/office/drawing/2014/main" id="{0A12F14E-68DA-E3E7-CF60-2136AB308F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35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31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7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F36E58-1098-83DF-F6D7-F6AB638C043B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4DB8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6BFCD93-F32D-E430-745B-BC392B71CE08}"/>
              </a:ext>
            </a:extLst>
          </p:cNvPr>
          <p:cNvSpPr txBox="1"/>
          <p:nvPr/>
        </p:nvSpPr>
        <p:spPr>
          <a:xfrm>
            <a:off x="381000" y="228600"/>
            <a:ext cx="431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>
                <a:solidFill>
                  <a:srgbClr val="4DB807"/>
                </a:solidFill>
                <a:latin typeface="Aptos" panose="020B0004020202020204" pitchFamily="34" charset="0"/>
              </a:rPr>
              <a:t>Main Dashboard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79AF93A6-8DEE-E4FC-23EB-522C92B0E3D5}"/>
              </a:ext>
            </a:extLst>
          </p:cNvPr>
          <p:cNvSpPr txBox="1"/>
          <p:nvPr/>
        </p:nvSpPr>
        <p:spPr>
          <a:xfrm>
            <a:off x="381000" y="736600"/>
            <a:ext cx="5334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757575"/>
                </a:solidFill>
                <a:latin typeface="Aptos" panose="020B0004020202020204" pitchFamily="34" charset="0"/>
              </a:rPr>
              <a:t>Main dashboard with demand and zone risk view</a:t>
            </a:r>
            <a:endParaRPr lang="en-IN" sz="1400">
              <a:solidFill>
                <a:srgbClr val="757575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C617E-0B78-93D1-A7BC-7BE0859EB2D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97000"/>
            <a:ext cx="7112000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050D00-A0D4-4230-0B1D-EFC017FB2135}"/>
              </a:ext>
            </a:extLst>
          </p:cNvPr>
          <p:cNvSpPr/>
          <p:nvPr/>
        </p:nvSpPr>
        <p:spPr>
          <a:xfrm>
            <a:off x="7874000" y="1397000"/>
            <a:ext cx="3556000" cy="4000500"/>
          </a:xfrm>
          <a:prstGeom prst="rect">
            <a:avLst/>
          </a:prstGeom>
          <a:solidFill>
            <a:srgbClr val="EFF1F8"/>
          </a:solidFill>
          <a:ln w="15875">
            <a:solidFill>
              <a:srgbClr val="E8E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641EA93-EA57-B863-9A9E-12BAEAD900A0}"/>
              </a:ext>
            </a:extLst>
          </p:cNvPr>
          <p:cNvSpPr txBox="1"/>
          <p:nvPr/>
        </p:nvSpPr>
        <p:spPr>
          <a:xfrm>
            <a:off x="8128000" y="1714500"/>
            <a:ext cx="304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222222"/>
                </a:solidFill>
                <a:latin typeface="Aptos" panose="020B0004020202020204" pitchFamily="34" charset="0"/>
              </a:rPr>
              <a:t>This is the main dashboard. It shows the overall system view, demand information, and risk zones in one place.</a:t>
            </a:r>
            <a:endParaRPr lang="en-IN" sz="18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83843-5B3E-8170-3E47-E4C8B95F1F68}"/>
              </a:ext>
            </a:extLst>
          </p:cNvPr>
          <p:cNvSpPr/>
          <p:nvPr/>
        </p:nvSpPr>
        <p:spPr>
          <a:xfrm>
            <a:off x="381000" y="5715000"/>
            <a:ext cx="11049000" cy="508000"/>
          </a:xfrm>
          <a:prstGeom prst="rect">
            <a:avLst/>
          </a:prstGeom>
          <a:solidFill>
            <a:srgbClr val="FFF5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222222"/>
                </a:solidFill>
                <a:latin typeface="Aptos" panose="020B0004020202020204" pitchFamily="34" charset="0"/>
              </a:rPr>
              <a:t>GridSense AI demo for hackathon presentation</a:t>
            </a:r>
          </a:p>
        </p:txBody>
      </p:sp>
      <p:pic>
        <p:nvPicPr>
          <p:cNvPr id="10" name="slide-02">
            <a:hlinkClick r:id="" action="ppaction://media"/>
            <a:extLst>
              <a:ext uri="{FF2B5EF4-FFF2-40B4-BE49-F238E27FC236}">
                <a16:creationId xmlns:a16="http://schemas.microsoft.com/office/drawing/2014/main" id="{05AC5E91-3601-6834-232A-609275AEA0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35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9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3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CC953A-E302-50DF-A1A0-8DF7278F60F9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4DB8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61F54BE-5525-F6E2-C4F5-657ABEC3DE25}"/>
              </a:ext>
            </a:extLst>
          </p:cNvPr>
          <p:cNvSpPr txBox="1"/>
          <p:nvPr/>
        </p:nvSpPr>
        <p:spPr>
          <a:xfrm>
            <a:off x="381000" y="228600"/>
            <a:ext cx="431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>
                <a:solidFill>
                  <a:srgbClr val="4DB807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B5864319-4999-69B5-67A1-BDB62144034D}"/>
              </a:ext>
            </a:extLst>
          </p:cNvPr>
          <p:cNvSpPr txBox="1"/>
          <p:nvPr/>
        </p:nvSpPr>
        <p:spPr>
          <a:xfrm>
            <a:off x="381000" y="736600"/>
            <a:ext cx="5334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757575"/>
                </a:solidFill>
                <a:latin typeface="Aptos" panose="020B0004020202020204" pitchFamily="34" charset="0"/>
              </a:rPr>
              <a:t>Live demo with alert, loss, and next action</a:t>
            </a:r>
            <a:endParaRPr lang="en-IN" sz="1400">
              <a:solidFill>
                <a:srgbClr val="757575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9942D-C894-5FF3-88E0-BC415B5958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97000"/>
            <a:ext cx="7112000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2FE881-EF54-23BC-5076-5D443665BCF1}"/>
              </a:ext>
            </a:extLst>
          </p:cNvPr>
          <p:cNvSpPr/>
          <p:nvPr/>
        </p:nvSpPr>
        <p:spPr>
          <a:xfrm>
            <a:off x="7874000" y="1397000"/>
            <a:ext cx="3556000" cy="4000500"/>
          </a:xfrm>
          <a:prstGeom prst="rect">
            <a:avLst/>
          </a:prstGeom>
          <a:solidFill>
            <a:srgbClr val="EFF1F8"/>
          </a:solidFill>
          <a:ln w="15875">
            <a:solidFill>
              <a:srgbClr val="E8E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F21FC86-A7EC-F924-D46D-1C5330069312}"/>
              </a:ext>
            </a:extLst>
          </p:cNvPr>
          <p:cNvSpPr txBox="1"/>
          <p:nvPr/>
        </p:nvSpPr>
        <p:spPr>
          <a:xfrm>
            <a:off x="8128000" y="1714500"/>
            <a:ext cx="304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222222"/>
                </a:solidFill>
                <a:latin typeface="Aptos" panose="020B0004020202020204" pitchFamily="34" charset="0"/>
              </a:rPr>
              <a:t>Here the demo shows a risky meter. It also shows the possible revenue loss and the next action for the officer.</a:t>
            </a:r>
            <a:endParaRPr lang="en-IN" sz="18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F557D8-1300-BFC9-39F2-CB7FA7F0A195}"/>
              </a:ext>
            </a:extLst>
          </p:cNvPr>
          <p:cNvSpPr/>
          <p:nvPr/>
        </p:nvSpPr>
        <p:spPr>
          <a:xfrm>
            <a:off x="381000" y="5715000"/>
            <a:ext cx="11049000" cy="508000"/>
          </a:xfrm>
          <a:prstGeom prst="rect">
            <a:avLst/>
          </a:prstGeom>
          <a:solidFill>
            <a:srgbClr val="FFF5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222222"/>
                </a:solidFill>
                <a:latin typeface="Aptos" panose="020B0004020202020204" pitchFamily="34" charset="0"/>
              </a:rPr>
              <a:t>GridSense AI demo for hackathon presentation</a:t>
            </a:r>
          </a:p>
        </p:txBody>
      </p:sp>
      <p:pic>
        <p:nvPicPr>
          <p:cNvPr id="10" name="slide-03">
            <a:hlinkClick r:id="" action="ppaction://media"/>
            <a:extLst>
              <a:ext uri="{FF2B5EF4-FFF2-40B4-BE49-F238E27FC236}">
                <a16:creationId xmlns:a16="http://schemas.microsoft.com/office/drawing/2014/main" id="{C26EB6AA-61D8-B7B2-19E2-440E1516E0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35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1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7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F5BB74-AAF9-8C7D-5D69-9DE9DF962D38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4DB8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51EC9DC-228F-245C-31A3-EAE7E5A1B409}"/>
              </a:ext>
            </a:extLst>
          </p:cNvPr>
          <p:cNvSpPr txBox="1"/>
          <p:nvPr/>
        </p:nvSpPr>
        <p:spPr>
          <a:xfrm>
            <a:off x="381000" y="228600"/>
            <a:ext cx="431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>
                <a:solidFill>
                  <a:srgbClr val="4DB807"/>
                </a:solidFill>
                <a:latin typeface="Aptos" panose="020B0004020202020204" pitchFamily="34" charset="0"/>
              </a:rPr>
              <a:t>Useful Features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00FE9181-5569-4B42-F53C-4B47D089783B}"/>
              </a:ext>
            </a:extLst>
          </p:cNvPr>
          <p:cNvSpPr txBox="1"/>
          <p:nvPr/>
        </p:nvSpPr>
        <p:spPr>
          <a:xfrm>
            <a:off x="381000" y="736600"/>
            <a:ext cx="5334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757575"/>
                </a:solidFill>
                <a:latin typeface="Aptos" panose="020B0004020202020204" pitchFamily="34" charset="0"/>
              </a:rPr>
              <a:t>Forecasting, alerts, and simple officer support</a:t>
            </a:r>
            <a:endParaRPr lang="en-IN" sz="1400">
              <a:solidFill>
                <a:srgbClr val="757575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ADBE9-F107-19E1-87E7-0ED77A7CCFB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97000"/>
            <a:ext cx="7112000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875C0E-05F4-D01D-C08A-44650CB4E4B8}"/>
              </a:ext>
            </a:extLst>
          </p:cNvPr>
          <p:cNvSpPr/>
          <p:nvPr/>
        </p:nvSpPr>
        <p:spPr>
          <a:xfrm>
            <a:off x="7874000" y="1397000"/>
            <a:ext cx="3556000" cy="4000500"/>
          </a:xfrm>
          <a:prstGeom prst="rect">
            <a:avLst/>
          </a:prstGeom>
          <a:solidFill>
            <a:srgbClr val="EFF1F8"/>
          </a:solidFill>
          <a:ln w="15875">
            <a:solidFill>
              <a:srgbClr val="E8E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1C9BA18-5115-D93E-6EDF-8E4003D1133F}"/>
              </a:ext>
            </a:extLst>
          </p:cNvPr>
          <p:cNvSpPr txBox="1"/>
          <p:nvPr/>
        </p:nvSpPr>
        <p:spPr>
          <a:xfrm>
            <a:off x="8128000" y="1714500"/>
            <a:ext cx="3048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222222"/>
                </a:solidFill>
                <a:latin typeface="Aptos" panose="020B0004020202020204" pitchFamily="34" charset="0"/>
              </a:rPr>
              <a:t>The system can predict demand, detect unusual usage, support human review, and help make better field decisions.</a:t>
            </a:r>
            <a:endParaRPr lang="en-IN" sz="18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D4D6B-0DBD-54D8-C1C8-CC184D484339}"/>
              </a:ext>
            </a:extLst>
          </p:cNvPr>
          <p:cNvSpPr/>
          <p:nvPr/>
        </p:nvSpPr>
        <p:spPr>
          <a:xfrm>
            <a:off x="381000" y="5715000"/>
            <a:ext cx="11049000" cy="508000"/>
          </a:xfrm>
          <a:prstGeom prst="rect">
            <a:avLst/>
          </a:prstGeom>
          <a:solidFill>
            <a:srgbClr val="FFF5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222222"/>
                </a:solidFill>
                <a:latin typeface="Aptos" panose="020B0004020202020204" pitchFamily="34" charset="0"/>
              </a:rPr>
              <a:t>GridSense AI demo for hackathon presentation</a:t>
            </a:r>
          </a:p>
        </p:txBody>
      </p:sp>
      <p:pic>
        <p:nvPicPr>
          <p:cNvPr id="10" name="slide-04">
            <a:hlinkClick r:id="" action="ppaction://media"/>
            <a:extLst>
              <a:ext uri="{FF2B5EF4-FFF2-40B4-BE49-F238E27FC236}">
                <a16:creationId xmlns:a16="http://schemas.microsoft.com/office/drawing/2014/main" id="{F0F10F0A-3FE4-F934-FD5C-DFFA38851E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35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72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5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67215D-E3A0-AE11-22E1-47E8B0FA84D0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4DB8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10BEDB0-3186-F5E8-4600-F36867347CA1}"/>
              </a:ext>
            </a:extLst>
          </p:cNvPr>
          <p:cNvSpPr txBox="1"/>
          <p:nvPr/>
        </p:nvSpPr>
        <p:spPr>
          <a:xfrm>
            <a:off x="381000" y="228600"/>
            <a:ext cx="431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>
                <a:solidFill>
                  <a:srgbClr val="4DB807"/>
                </a:solidFill>
                <a:latin typeface="Aptos" panose="020B0004020202020204" pitchFamily="34" charset="0"/>
              </a:rPr>
              <a:t>Why It Helps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F8B58774-4696-5909-F4E1-21225B3D2CE0}"/>
              </a:ext>
            </a:extLst>
          </p:cNvPr>
          <p:cNvSpPr txBox="1"/>
          <p:nvPr/>
        </p:nvSpPr>
        <p:spPr>
          <a:xfrm>
            <a:off x="381000" y="736600"/>
            <a:ext cx="5334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757575"/>
                </a:solidFill>
                <a:latin typeface="Aptos" panose="020B0004020202020204" pitchFamily="34" charset="0"/>
              </a:rPr>
              <a:t>Simple, useful, and easy to understand</a:t>
            </a:r>
            <a:endParaRPr lang="en-IN" sz="1400">
              <a:solidFill>
                <a:srgbClr val="757575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C8270-C22E-1325-8E15-52983EFCDF1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97000"/>
            <a:ext cx="7112000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1F4D84-2191-311F-B8C4-DCC02499DCFF}"/>
              </a:ext>
            </a:extLst>
          </p:cNvPr>
          <p:cNvSpPr/>
          <p:nvPr/>
        </p:nvSpPr>
        <p:spPr>
          <a:xfrm>
            <a:off x="7874000" y="1397000"/>
            <a:ext cx="3556000" cy="4000500"/>
          </a:xfrm>
          <a:prstGeom prst="rect">
            <a:avLst/>
          </a:prstGeom>
          <a:solidFill>
            <a:srgbClr val="EFF1F8"/>
          </a:solidFill>
          <a:ln w="15875">
            <a:solidFill>
              <a:srgbClr val="E8E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F88AAB7-BA74-F44D-923A-AAD7625D64F7}"/>
              </a:ext>
            </a:extLst>
          </p:cNvPr>
          <p:cNvSpPr txBox="1"/>
          <p:nvPr/>
        </p:nvSpPr>
        <p:spPr>
          <a:xfrm>
            <a:off x="8128000" y="1714500"/>
            <a:ext cx="3048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222222"/>
                </a:solidFill>
                <a:latin typeface="Aptos" panose="020B0004020202020204" pitchFamily="34" charset="0"/>
              </a:rPr>
              <a:t>In real life, this can help reduce theft, save time, and support faster recovery. It does not replace officers. It helps them work in a smarter way.</a:t>
            </a:r>
            <a:endParaRPr lang="en-IN" sz="18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F6BFD1-DBF0-18C5-4BBD-6D293D781A13}"/>
              </a:ext>
            </a:extLst>
          </p:cNvPr>
          <p:cNvSpPr/>
          <p:nvPr/>
        </p:nvSpPr>
        <p:spPr>
          <a:xfrm>
            <a:off x="381000" y="5715000"/>
            <a:ext cx="11049000" cy="508000"/>
          </a:xfrm>
          <a:prstGeom prst="rect">
            <a:avLst/>
          </a:prstGeom>
          <a:solidFill>
            <a:srgbClr val="FFF5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222222"/>
                </a:solidFill>
                <a:latin typeface="Aptos" panose="020B0004020202020204" pitchFamily="34" charset="0"/>
              </a:rPr>
              <a:t>GridSense AI demo for hackathon presentation</a:t>
            </a:r>
          </a:p>
        </p:txBody>
      </p:sp>
      <p:pic>
        <p:nvPicPr>
          <p:cNvPr id="10" name="slide-05">
            <a:hlinkClick r:id="" action="ppaction://media"/>
            <a:extLst>
              <a:ext uri="{FF2B5EF4-FFF2-40B4-BE49-F238E27FC236}">
                <a16:creationId xmlns:a16="http://schemas.microsoft.com/office/drawing/2014/main" id="{069BB0CC-DADB-AE70-B91C-991EC74AC5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35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54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3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On-screen Show (16:10)</PresentationFormat>
  <Paragraphs>20</Paragraphs>
  <Slides>5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sai</dc:creator>
  <cp:lastModifiedBy>nikhil sai</cp:lastModifiedBy>
  <cp:revision>1</cp:revision>
  <dcterms:created xsi:type="dcterms:W3CDTF">2026-04-27T16:22:49Z</dcterms:created>
  <dcterms:modified xsi:type="dcterms:W3CDTF">2026-04-27T16:22:49Z</dcterms:modified>
</cp:coreProperties>
</file>